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73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660"/>
  </p:normalViewPr>
  <p:slideViewPr>
    <p:cSldViewPr snapToGrid="0">
      <p:cViewPr varScale="1">
        <p:scale>
          <a:sx n="85" d="100"/>
          <a:sy n="85" d="100"/>
        </p:scale>
        <p:origin x="72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904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644EB1-8DF1-4338-93D4-86C3A6A1FC42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937934-25CA-4524-B625-A5F03B8EFEA0}">
      <dgm:prSet/>
      <dgm:spPr/>
      <dgm:t>
        <a:bodyPr/>
        <a:lstStyle/>
        <a:p>
          <a:r>
            <a:rPr lang="en-US" b="1" dirty="0"/>
            <a:t>Effects:</a:t>
          </a:r>
          <a:endParaRPr lang="en-US" dirty="0"/>
        </a:p>
      </dgm:t>
    </dgm:pt>
    <dgm:pt modelId="{4DFB2BB4-B5A8-4680-896C-1DADB22A0177}" type="parTrans" cxnId="{7B04143E-AB0E-460F-8CD3-7717A12AB6BA}">
      <dgm:prSet/>
      <dgm:spPr/>
      <dgm:t>
        <a:bodyPr/>
        <a:lstStyle/>
        <a:p>
          <a:endParaRPr lang="en-US"/>
        </a:p>
      </dgm:t>
    </dgm:pt>
    <dgm:pt modelId="{4C2A8C74-64D2-49C2-8B84-C83BFC300481}" type="sibTrans" cxnId="{7B04143E-AB0E-460F-8CD3-7717A12AB6BA}">
      <dgm:prSet/>
      <dgm:spPr/>
      <dgm:t>
        <a:bodyPr/>
        <a:lstStyle/>
        <a:p>
          <a:endParaRPr lang="en-US"/>
        </a:p>
      </dgm:t>
    </dgm:pt>
    <dgm:pt modelId="{6D7DC3F5-32E3-410B-9313-7FA1789F2552}">
      <dgm:prSet/>
      <dgm:spPr/>
      <dgm:t>
        <a:bodyPr/>
        <a:lstStyle/>
        <a:p>
          <a:pPr algn="just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Oxidative stress</a:t>
          </a:r>
        </a:p>
      </dgm:t>
    </dgm:pt>
    <dgm:pt modelId="{7837AC65-0BFB-4097-A93D-828A0771243F}" type="parTrans" cxnId="{B3E86703-A72A-4758-B067-B5E86F31780E}">
      <dgm:prSet/>
      <dgm:spPr/>
      <dgm:t>
        <a:bodyPr/>
        <a:lstStyle/>
        <a:p>
          <a:endParaRPr lang="en-US"/>
        </a:p>
      </dgm:t>
    </dgm:pt>
    <dgm:pt modelId="{4D732A27-C62D-4B41-A1E6-A94C134C81E3}" type="sibTrans" cxnId="{B3E86703-A72A-4758-B067-B5E86F31780E}">
      <dgm:prSet/>
      <dgm:spPr/>
      <dgm:t>
        <a:bodyPr/>
        <a:lstStyle/>
        <a:p>
          <a:endParaRPr lang="en-US"/>
        </a:p>
      </dgm:t>
    </dgm:pt>
    <dgm:pt modelId="{EA3E43BC-480A-4391-AE25-CADAAE8C00EA}">
      <dgm:prSet/>
      <dgm:spPr/>
      <dgm:t>
        <a:bodyPr/>
        <a:lstStyle/>
        <a:p>
          <a:pPr algn="just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Organ damage</a:t>
          </a:r>
        </a:p>
      </dgm:t>
    </dgm:pt>
    <dgm:pt modelId="{5D933BDC-D9EB-4BB1-A8FE-50A1CDA857D2}" type="parTrans" cxnId="{36A75B54-1345-4F28-96D0-D6C15AD6CBCA}">
      <dgm:prSet/>
      <dgm:spPr/>
      <dgm:t>
        <a:bodyPr/>
        <a:lstStyle/>
        <a:p>
          <a:endParaRPr lang="en-US"/>
        </a:p>
      </dgm:t>
    </dgm:pt>
    <dgm:pt modelId="{DC43C5C7-3B74-47BB-A250-65BBCB0BE7D1}" type="sibTrans" cxnId="{36A75B54-1345-4F28-96D0-D6C15AD6CBCA}">
      <dgm:prSet/>
      <dgm:spPr/>
      <dgm:t>
        <a:bodyPr/>
        <a:lstStyle/>
        <a:p>
          <a:endParaRPr lang="en-US"/>
        </a:p>
      </dgm:t>
    </dgm:pt>
    <dgm:pt modelId="{7B59744C-76C8-4385-9CF9-81A5F77DE4CD}">
      <dgm:prSet/>
      <dgm:spPr/>
      <dgm:t>
        <a:bodyPr/>
        <a:lstStyle/>
        <a:p>
          <a:pPr algn="just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Cancer</a:t>
          </a:r>
        </a:p>
      </dgm:t>
    </dgm:pt>
    <dgm:pt modelId="{F7D96CA2-5A9E-486B-BD40-4D8453D175DE}" type="parTrans" cxnId="{5DC9170F-93B2-4433-B9D9-0F652BCE825F}">
      <dgm:prSet/>
      <dgm:spPr/>
      <dgm:t>
        <a:bodyPr/>
        <a:lstStyle/>
        <a:p>
          <a:endParaRPr lang="en-US"/>
        </a:p>
      </dgm:t>
    </dgm:pt>
    <dgm:pt modelId="{DF35AFFB-7FFF-4261-B4C4-9CB164453665}" type="sibTrans" cxnId="{5DC9170F-93B2-4433-B9D9-0F652BCE825F}">
      <dgm:prSet/>
      <dgm:spPr/>
      <dgm:t>
        <a:bodyPr/>
        <a:lstStyle/>
        <a:p>
          <a:endParaRPr lang="en-US"/>
        </a:p>
      </dgm:t>
    </dgm:pt>
    <dgm:pt modelId="{12CE89CD-81F7-452B-B414-B0B068B38E87}">
      <dgm:prSet/>
      <dgm:spPr/>
      <dgm:t>
        <a:bodyPr/>
        <a:lstStyle/>
        <a:p>
          <a:pPr algn="just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Neurological disorder</a:t>
          </a:r>
        </a:p>
      </dgm:t>
    </dgm:pt>
    <dgm:pt modelId="{B02021B0-D0A5-42BB-8700-126B75F41142}" type="parTrans" cxnId="{62F37B9B-26BB-41B3-9F56-E4E2731BD641}">
      <dgm:prSet/>
      <dgm:spPr/>
      <dgm:t>
        <a:bodyPr/>
        <a:lstStyle/>
        <a:p>
          <a:endParaRPr lang="en-US"/>
        </a:p>
      </dgm:t>
    </dgm:pt>
    <dgm:pt modelId="{EA4982C7-5DB6-406D-BD65-EA1421A76166}" type="sibTrans" cxnId="{62F37B9B-26BB-41B3-9F56-E4E2731BD641}">
      <dgm:prSet/>
      <dgm:spPr/>
      <dgm:t>
        <a:bodyPr/>
        <a:lstStyle/>
        <a:p>
          <a:endParaRPr lang="en-US"/>
        </a:p>
      </dgm:t>
    </dgm:pt>
    <dgm:pt modelId="{5685BD57-3D48-47F7-A96E-B19F27DD61FA}" type="pres">
      <dgm:prSet presAssocID="{78644EB1-8DF1-4338-93D4-86C3A6A1FC42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1B1C261A-86C9-41DD-80CD-980AEB477F7D}" type="pres">
      <dgm:prSet presAssocID="{78644EB1-8DF1-4338-93D4-86C3A6A1FC42}" presName="cycle" presStyleCnt="0"/>
      <dgm:spPr/>
    </dgm:pt>
    <dgm:pt modelId="{B6794649-84F4-4F47-A59B-3B233C1F8BDF}" type="pres">
      <dgm:prSet presAssocID="{78644EB1-8DF1-4338-93D4-86C3A6A1FC42}" presName="centerShape" presStyleCnt="0"/>
      <dgm:spPr/>
    </dgm:pt>
    <dgm:pt modelId="{D0A22FC3-F785-4516-BDDF-C7409E1B5710}" type="pres">
      <dgm:prSet presAssocID="{78644EB1-8DF1-4338-93D4-86C3A6A1FC42}" presName="connSite" presStyleLbl="node1" presStyleIdx="0" presStyleCnt="2"/>
      <dgm:spPr/>
    </dgm:pt>
    <dgm:pt modelId="{E856A616-73B7-43D7-A8B0-DB1EB342F01D}" type="pres">
      <dgm:prSet presAssocID="{78644EB1-8DF1-4338-93D4-86C3A6A1FC42}" presName="visible" presStyleLbl="node1" presStyleIdx="0" presStyleCnt="2" custScaleY="123513" custLinFactNeighborX="299"/>
      <dgm:spPr>
        <a:blipFill>
          <a:blip xmlns:r="http://schemas.openxmlformats.org/officeDocument/2006/relationships" r:embed="rId1"/>
          <a:srcRect/>
          <a:stretch>
            <a:fillRect l="-2000" r="-2000"/>
          </a:stretch>
        </a:blipFill>
      </dgm:spPr>
    </dgm:pt>
    <dgm:pt modelId="{AD7C6350-AF45-4F2B-ACEC-56D34F409050}" type="pres">
      <dgm:prSet presAssocID="{4DFB2BB4-B5A8-4680-896C-1DADB22A0177}" presName="Name25" presStyleLbl="parChTrans1D1" presStyleIdx="0" presStyleCnt="1"/>
      <dgm:spPr/>
    </dgm:pt>
    <dgm:pt modelId="{65967BA8-79FF-48EE-B4BB-77C08B95D35A}" type="pres">
      <dgm:prSet presAssocID="{3C937934-25CA-4524-B625-A5F03B8EFEA0}" presName="node" presStyleCnt="0"/>
      <dgm:spPr/>
    </dgm:pt>
    <dgm:pt modelId="{0215563D-0A74-43C0-BE23-04D1C5576500}" type="pres">
      <dgm:prSet presAssocID="{3C937934-25CA-4524-B625-A5F03B8EFEA0}" presName="parentNode" presStyleLbl="node1" presStyleIdx="1" presStyleCnt="2" custScaleY="87394">
        <dgm:presLayoutVars>
          <dgm:chMax val="1"/>
          <dgm:bulletEnabled val="1"/>
        </dgm:presLayoutVars>
      </dgm:prSet>
      <dgm:spPr/>
    </dgm:pt>
    <dgm:pt modelId="{C8C50A9F-1F86-4518-804D-973213AC99BB}" type="pres">
      <dgm:prSet presAssocID="{3C937934-25CA-4524-B625-A5F03B8EFEA0}" presName="childNode" presStyleLbl="revTx" presStyleIdx="0" presStyleCnt="1">
        <dgm:presLayoutVars>
          <dgm:bulletEnabled val="1"/>
        </dgm:presLayoutVars>
      </dgm:prSet>
      <dgm:spPr/>
    </dgm:pt>
  </dgm:ptLst>
  <dgm:cxnLst>
    <dgm:cxn modelId="{B3E86703-A72A-4758-B067-B5E86F31780E}" srcId="{3C937934-25CA-4524-B625-A5F03B8EFEA0}" destId="{6D7DC3F5-32E3-410B-9313-7FA1789F2552}" srcOrd="0" destOrd="0" parTransId="{7837AC65-0BFB-4097-A93D-828A0771243F}" sibTransId="{4D732A27-C62D-4B41-A1E6-A94C134C81E3}"/>
    <dgm:cxn modelId="{5DC9170F-93B2-4433-B9D9-0F652BCE825F}" srcId="{3C937934-25CA-4524-B625-A5F03B8EFEA0}" destId="{7B59744C-76C8-4385-9CF9-81A5F77DE4CD}" srcOrd="2" destOrd="0" parTransId="{F7D96CA2-5A9E-486B-BD40-4D8453D175DE}" sibTransId="{DF35AFFB-7FFF-4261-B4C4-9CB164453665}"/>
    <dgm:cxn modelId="{7B04143E-AB0E-460F-8CD3-7717A12AB6BA}" srcId="{78644EB1-8DF1-4338-93D4-86C3A6A1FC42}" destId="{3C937934-25CA-4524-B625-A5F03B8EFEA0}" srcOrd="0" destOrd="0" parTransId="{4DFB2BB4-B5A8-4680-896C-1DADB22A0177}" sibTransId="{4C2A8C74-64D2-49C2-8B84-C83BFC300481}"/>
    <dgm:cxn modelId="{020F9A3E-AA9F-4892-BAD6-911D6C307450}" type="presOf" srcId="{7B59744C-76C8-4385-9CF9-81A5F77DE4CD}" destId="{C8C50A9F-1F86-4518-804D-973213AC99BB}" srcOrd="0" destOrd="2" presId="urn:microsoft.com/office/officeart/2005/8/layout/radial2"/>
    <dgm:cxn modelId="{2D6E9E48-60EF-4F33-B3E3-6FD6C4E3819E}" type="presOf" srcId="{12CE89CD-81F7-452B-B414-B0B068B38E87}" destId="{C8C50A9F-1F86-4518-804D-973213AC99BB}" srcOrd="0" destOrd="3" presId="urn:microsoft.com/office/officeart/2005/8/layout/radial2"/>
    <dgm:cxn modelId="{E2C59F6F-28B5-48FA-A348-CD31EDC57BF2}" type="presOf" srcId="{EA3E43BC-480A-4391-AE25-CADAAE8C00EA}" destId="{C8C50A9F-1F86-4518-804D-973213AC99BB}" srcOrd="0" destOrd="1" presId="urn:microsoft.com/office/officeart/2005/8/layout/radial2"/>
    <dgm:cxn modelId="{36A75B54-1345-4F28-96D0-D6C15AD6CBCA}" srcId="{3C937934-25CA-4524-B625-A5F03B8EFEA0}" destId="{EA3E43BC-480A-4391-AE25-CADAAE8C00EA}" srcOrd="1" destOrd="0" parTransId="{5D933BDC-D9EB-4BB1-A8FE-50A1CDA857D2}" sibTransId="{DC43C5C7-3B74-47BB-A250-65BBCB0BE7D1}"/>
    <dgm:cxn modelId="{62F37B9B-26BB-41B3-9F56-E4E2731BD641}" srcId="{3C937934-25CA-4524-B625-A5F03B8EFEA0}" destId="{12CE89CD-81F7-452B-B414-B0B068B38E87}" srcOrd="3" destOrd="0" parTransId="{B02021B0-D0A5-42BB-8700-126B75F41142}" sibTransId="{EA4982C7-5DB6-406D-BD65-EA1421A76166}"/>
    <dgm:cxn modelId="{F1D8D19D-E7D6-4254-813C-AC27DA424AAB}" type="presOf" srcId="{78644EB1-8DF1-4338-93D4-86C3A6A1FC42}" destId="{5685BD57-3D48-47F7-A96E-B19F27DD61FA}" srcOrd="0" destOrd="0" presId="urn:microsoft.com/office/officeart/2005/8/layout/radial2"/>
    <dgm:cxn modelId="{73DB23A5-5405-47A1-B088-661D25658747}" type="presOf" srcId="{6D7DC3F5-32E3-410B-9313-7FA1789F2552}" destId="{C8C50A9F-1F86-4518-804D-973213AC99BB}" srcOrd="0" destOrd="0" presId="urn:microsoft.com/office/officeart/2005/8/layout/radial2"/>
    <dgm:cxn modelId="{CB24FBEC-8D5F-49C8-B7DF-6E96876BF666}" type="presOf" srcId="{3C937934-25CA-4524-B625-A5F03B8EFEA0}" destId="{0215563D-0A74-43C0-BE23-04D1C5576500}" srcOrd="0" destOrd="0" presId="urn:microsoft.com/office/officeart/2005/8/layout/radial2"/>
    <dgm:cxn modelId="{31DEBCF4-CABA-401F-A27E-75E17AF4554C}" type="presOf" srcId="{4DFB2BB4-B5A8-4680-896C-1DADB22A0177}" destId="{AD7C6350-AF45-4F2B-ACEC-56D34F409050}" srcOrd="0" destOrd="0" presId="urn:microsoft.com/office/officeart/2005/8/layout/radial2"/>
    <dgm:cxn modelId="{D30206A0-1F13-40F1-85DB-3513BB48F608}" type="presParOf" srcId="{5685BD57-3D48-47F7-A96E-B19F27DD61FA}" destId="{1B1C261A-86C9-41DD-80CD-980AEB477F7D}" srcOrd="0" destOrd="0" presId="urn:microsoft.com/office/officeart/2005/8/layout/radial2"/>
    <dgm:cxn modelId="{C92D47BC-A724-4100-9432-FE78881C1A0A}" type="presParOf" srcId="{1B1C261A-86C9-41DD-80CD-980AEB477F7D}" destId="{B6794649-84F4-4F47-A59B-3B233C1F8BDF}" srcOrd="0" destOrd="0" presId="urn:microsoft.com/office/officeart/2005/8/layout/radial2"/>
    <dgm:cxn modelId="{F09E5D12-9F63-4345-96DC-A9E143F4F752}" type="presParOf" srcId="{B6794649-84F4-4F47-A59B-3B233C1F8BDF}" destId="{D0A22FC3-F785-4516-BDDF-C7409E1B5710}" srcOrd="0" destOrd="0" presId="urn:microsoft.com/office/officeart/2005/8/layout/radial2"/>
    <dgm:cxn modelId="{D147C489-1B79-432C-874E-9BF7037A2078}" type="presParOf" srcId="{B6794649-84F4-4F47-A59B-3B233C1F8BDF}" destId="{E856A616-73B7-43D7-A8B0-DB1EB342F01D}" srcOrd="1" destOrd="0" presId="urn:microsoft.com/office/officeart/2005/8/layout/radial2"/>
    <dgm:cxn modelId="{06F998B7-0F70-4868-9B6D-A6540FD250A2}" type="presParOf" srcId="{1B1C261A-86C9-41DD-80CD-980AEB477F7D}" destId="{AD7C6350-AF45-4F2B-ACEC-56D34F409050}" srcOrd="1" destOrd="0" presId="urn:microsoft.com/office/officeart/2005/8/layout/radial2"/>
    <dgm:cxn modelId="{9ABEF4CC-F427-4E38-AE97-455331038A01}" type="presParOf" srcId="{1B1C261A-86C9-41DD-80CD-980AEB477F7D}" destId="{65967BA8-79FF-48EE-B4BB-77C08B95D35A}" srcOrd="2" destOrd="0" presId="urn:microsoft.com/office/officeart/2005/8/layout/radial2"/>
    <dgm:cxn modelId="{BC44E45D-ACA2-4711-A15C-43E1D3276D28}" type="presParOf" srcId="{65967BA8-79FF-48EE-B4BB-77C08B95D35A}" destId="{0215563D-0A74-43C0-BE23-04D1C5576500}" srcOrd="0" destOrd="0" presId="urn:microsoft.com/office/officeart/2005/8/layout/radial2"/>
    <dgm:cxn modelId="{BF84E3A8-DB4E-44A2-9EF7-CC8A705E12C4}" type="presParOf" srcId="{65967BA8-79FF-48EE-B4BB-77C08B95D35A}" destId="{C8C50A9F-1F86-4518-804D-973213AC99BB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3CC55D-C50B-4AE2-AB85-C6809E72F79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81A78D-254C-4F80-B08A-77725C6CC2C6}">
      <dgm:prSet/>
      <dgm:spPr/>
      <dgm:t>
        <a:bodyPr/>
        <a:lstStyle/>
        <a:p>
          <a:r>
            <a:rPr lang="en-US" b="1"/>
            <a:t>Routes of Exposure</a:t>
          </a:r>
          <a:endParaRPr lang="en-US"/>
        </a:p>
      </dgm:t>
    </dgm:pt>
    <dgm:pt modelId="{A1399F54-3601-4BFA-B468-3E54EDCCF0D0}" type="parTrans" cxnId="{4814BD12-ACE2-489A-8168-564DC0F90D04}">
      <dgm:prSet/>
      <dgm:spPr/>
      <dgm:t>
        <a:bodyPr/>
        <a:lstStyle/>
        <a:p>
          <a:endParaRPr lang="en-US"/>
        </a:p>
      </dgm:t>
    </dgm:pt>
    <dgm:pt modelId="{0DBAE615-8A9F-46E5-B8BA-ACAEFFA41889}" type="sibTrans" cxnId="{4814BD12-ACE2-489A-8168-564DC0F90D04}">
      <dgm:prSet/>
      <dgm:spPr/>
      <dgm:t>
        <a:bodyPr/>
        <a:lstStyle/>
        <a:p>
          <a:endParaRPr lang="en-US"/>
        </a:p>
      </dgm:t>
    </dgm:pt>
    <dgm:pt modelId="{F769E102-6DC3-4520-ADFE-A39AB70A8E1C}">
      <dgm:prSet/>
      <dgm:spPr/>
      <dgm:t>
        <a:bodyPr/>
        <a:lstStyle/>
        <a:p>
          <a:r>
            <a:rPr lang="en-US"/>
            <a:t>Inhalation</a:t>
          </a:r>
        </a:p>
      </dgm:t>
    </dgm:pt>
    <dgm:pt modelId="{A2851B79-6029-490D-97F0-E1C3ECB4044E}" type="parTrans" cxnId="{833C14BC-855B-40EA-8213-EC4305224076}">
      <dgm:prSet/>
      <dgm:spPr/>
      <dgm:t>
        <a:bodyPr/>
        <a:lstStyle/>
        <a:p>
          <a:endParaRPr lang="en-US"/>
        </a:p>
      </dgm:t>
    </dgm:pt>
    <dgm:pt modelId="{7CF9B990-58CE-4AA1-A0A1-BA75DF479E83}" type="sibTrans" cxnId="{833C14BC-855B-40EA-8213-EC4305224076}">
      <dgm:prSet/>
      <dgm:spPr/>
      <dgm:t>
        <a:bodyPr/>
        <a:lstStyle/>
        <a:p>
          <a:endParaRPr lang="en-US"/>
        </a:p>
      </dgm:t>
    </dgm:pt>
    <dgm:pt modelId="{F2BE36DE-6396-4A3C-9833-9B93A8BA925A}">
      <dgm:prSet/>
      <dgm:spPr/>
      <dgm:t>
        <a:bodyPr/>
        <a:lstStyle/>
        <a:p>
          <a:r>
            <a:rPr lang="en-US" dirty="0"/>
            <a:t>Ingestion</a:t>
          </a:r>
        </a:p>
      </dgm:t>
    </dgm:pt>
    <dgm:pt modelId="{778691FD-1E4E-4122-A679-289AF7ABDDC0}" type="parTrans" cxnId="{06DE793B-7FE3-4744-8EAE-F59E1004D8E0}">
      <dgm:prSet/>
      <dgm:spPr/>
      <dgm:t>
        <a:bodyPr/>
        <a:lstStyle/>
        <a:p>
          <a:endParaRPr lang="en-US"/>
        </a:p>
      </dgm:t>
    </dgm:pt>
    <dgm:pt modelId="{BFB61322-D83C-435D-9716-9AC0EB055D4B}" type="sibTrans" cxnId="{06DE793B-7FE3-4744-8EAE-F59E1004D8E0}">
      <dgm:prSet/>
      <dgm:spPr/>
      <dgm:t>
        <a:bodyPr/>
        <a:lstStyle/>
        <a:p>
          <a:endParaRPr lang="en-US"/>
        </a:p>
      </dgm:t>
    </dgm:pt>
    <dgm:pt modelId="{FC527C0B-36B1-4F9C-8778-296D277E5CFB}">
      <dgm:prSet/>
      <dgm:spPr/>
      <dgm:t>
        <a:bodyPr/>
        <a:lstStyle/>
        <a:p>
          <a:r>
            <a:rPr lang="en-US" dirty="0"/>
            <a:t>Dermal absorption</a:t>
          </a:r>
        </a:p>
      </dgm:t>
    </dgm:pt>
    <dgm:pt modelId="{B45316B9-2FB7-4700-A53F-26700479B399}" type="parTrans" cxnId="{E57909DD-DD24-41C4-B398-70F61957E285}">
      <dgm:prSet/>
      <dgm:spPr/>
      <dgm:t>
        <a:bodyPr/>
        <a:lstStyle/>
        <a:p>
          <a:endParaRPr lang="en-US"/>
        </a:p>
      </dgm:t>
    </dgm:pt>
    <dgm:pt modelId="{BD63F299-2D54-4100-B091-9EEDF78439D0}" type="sibTrans" cxnId="{E57909DD-DD24-41C4-B398-70F61957E285}">
      <dgm:prSet/>
      <dgm:spPr/>
      <dgm:t>
        <a:bodyPr/>
        <a:lstStyle/>
        <a:p>
          <a:endParaRPr lang="en-US"/>
        </a:p>
      </dgm:t>
    </dgm:pt>
    <dgm:pt modelId="{05F8A56E-96B1-42FD-99A4-3501DE9CD6CD}" type="pres">
      <dgm:prSet presAssocID="{293CC55D-C50B-4AE2-AB85-C6809E72F79E}" presName="Name0" presStyleCnt="0">
        <dgm:presLayoutVars>
          <dgm:dir/>
          <dgm:animLvl val="lvl"/>
          <dgm:resizeHandles val="exact"/>
        </dgm:presLayoutVars>
      </dgm:prSet>
      <dgm:spPr/>
    </dgm:pt>
    <dgm:pt modelId="{9C8096AF-263E-4838-8A22-2A1ECC7795DC}" type="pres">
      <dgm:prSet presAssocID="{B581A78D-254C-4F80-B08A-77725C6CC2C6}" presName="linNode" presStyleCnt="0"/>
      <dgm:spPr/>
    </dgm:pt>
    <dgm:pt modelId="{2499BC94-1DAC-4DFA-AD42-8D788517B392}" type="pres">
      <dgm:prSet presAssocID="{B581A78D-254C-4F80-B08A-77725C6CC2C6}" presName="parentText" presStyleLbl="node1" presStyleIdx="0" presStyleCnt="1" custScaleY="82934">
        <dgm:presLayoutVars>
          <dgm:chMax val="1"/>
          <dgm:bulletEnabled val="1"/>
        </dgm:presLayoutVars>
      </dgm:prSet>
      <dgm:spPr/>
    </dgm:pt>
    <dgm:pt modelId="{A6F5482B-DE28-4D97-9AA3-5E9CB5F182C1}" type="pres">
      <dgm:prSet presAssocID="{B581A78D-254C-4F80-B08A-77725C6CC2C6}" presName="descendantText" presStyleLbl="alignAccFollowNode1" presStyleIdx="0" presStyleCnt="1" custScaleY="75084">
        <dgm:presLayoutVars>
          <dgm:bulletEnabled val="1"/>
        </dgm:presLayoutVars>
      </dgm:prSet>
      <dgm:spPr/>
    </dgm:pt>
  </dgm:ptLst>
  <dgm:cxnLst>
    <dgm:cxn modelId="{4814BD12-ACE2-489A-8168-564DC0F90D04}" srcId="{293CC55D-C50B-4AE2-AB85-C6809E72F79E}" destId="{B581A78D-254C-4F80-B08A-77725C6CC2C6}" srcOrd="0" destOrd="0" parTransId="{A1399F54-3601-4BFA-B468-3E54EDCCF0D0}" sibTransId="{0DBAE615-8A9F-46E5-B8BA-ACAEFFA41889}"/>
    <dgm:cxn modelId="{06DE793B-7FE3-4744-8EAE-F59E1004D8E0}" srcId="{B581A78D-254C-4F80-B08A-77725C6CC2C6}" destId="{F2BE36DE-6396-4A3C-9833-9B93A8BA925A}" srcOrd="1" destOrd="0" parTransId="{778691FD-1E4E-4122-A679-289AF7ABDDC0}" sibTransId="{BFB61322-D83C-435D-9716-9AC0EB055D4B}"/>
    <dgm:cxn modelId="{51A6173E-8AC6-42EE-8063-FE34E89A0DD6}" type="presOf" srcId="{F2BE36DE-6396-4A3C-9833-9B93A8BA925A}" destId="{A6F5482B-DE28-4D97-9AA3-5E9CB5F182C1}" srcOrd="0" destOrd="1" presId="urn:microsoft.com/office/officeart/2005/8/layout/vList5"/>
    <dgm:cxn modelId="{0D8CD84E-43F3-4C48-81FB-87A77C7DCF9E}" type="presOf" srcId="{293CC55D-C50B-4AE2-AB85-C6809E72F79E}" destId="{05F8A56E-96B1-42FD-99A4-3501DE9CD6CD}" srcOrd="0" destOrd="0" presId="urn:microsoft.com/office/officeart/2005/8/layout/vList5"/>
    <dgm:cxn modelId="{BB0E0EB2-7632-4581-8BD4-1B11A23AEB2B}" type="presOf" srcId="{FC527C0B-36B1-4F9C-8778-296D277E5CFB}" destId="{A6F5482B-DE28-4D97-9AA3-5E9CB5F182C1}" srcOrd="0" destOrd="2" presId="urn:microsoft.com/office/officeart/2005/8/layout/vList5"/>
    <dgm:cxn modelId="{833C14BC-855B-40EA-8213-EC4305224076}" srcId="{B581A78D-254C-4F80-B08A-77725C6CC2C6}" destId="{F769E102-6DC3-4520-ADFE-A39AB70A8E1C}" srcOrd="0" destOrd="0" parTransId="{A2851B79-6029-490D-97F0-E1C3ECB4044E}" sibTransId="{7CF9B990-58CE-4AA1-A0A1-BA75DF479E83}"/>
    <dgm:cxn modelId="{B5E0BEC8-AF1F-49A0-939A-EDC92FD43F2D}" type="presOf" srcId="{B581A78D-254C-4F80-B08A-77725C6CC2C6}" destId="{2499BC94-1DAC-4DFA-AD42-8D788517B392}" srcOrd="0" destOrd="0" presId="urn:microsoft.com/office/officeart/2005/8/layout/vList5"/>
    <dgm:cxn modelId="{A5E294D3-B5E3-45B4-90EC-16655279D749}" type="presOf" srcId="{F769E102-6DC3-4520-ADFE-A39AB70A8E1C}" destId="{A6F5482B-DE28-4D97-9AA3-5E9CB5F182C1}" srcOrd="0" destOrd="0" presId="urn:microsoft.com/office/officeart/2005/8/layout/vList5"/>
    <dgm:cxn modelId="{E57909DD-DD24-41C4-B398-70F61957E285}" srcId="{B581A78D-254C-4F80-B08A-77725C6CC2C6}" destId="{FC527C0B-36B1-4F9C-8778-296D277E5CFB}" srcOrd="2" destOrd="0" parTransId="{B45316B9-2FB7-4700-A53F-26700479B399}" sibTransId="{BD63F299-2D54-4100-B091-9EEDF78439D0}"/>
    <dgm:cxn modelId="{BEDF9398-2D68-486D-8CE9-FDF2A7C1764F}" type="presParOf" srcId="{05F8A56E-96B1-42FD-99A4-3501DE9CD6CD}" destId="{9C8096AF-263E-4838-8A22-2A1ECC7795DC}" srcOrd="0" destOrd="0" presId="urn:microsoft.com/office/officeart/2005/8/layout/vList5"/>
    <dgm:cxn modelId="{3CAB7A9B-6819-44B2-97BE-A89C6208C14A}" type="presParOf" srcId="{9C8096AF-263E-4838-8A22-2A1ECC7795DC}" destId="{2499BC94-1DAC-4DFA-AD42-8D788517B392}" srcOrd="0" destOrd="0" presId="urn:microsoft.com/office/officeart/2005/8/layout/vList5"/>
    <dgm:cxn modelId="{BCFB4DCA-967D-4132-845E-44CCB17CF51B}" type="presParOf" srcId="{9C8096AF-263E-4838-8A22-2A1ECC7795DC}" destId="{A6F5482B-DE28-4D97-9AA3-5E9CB5F182C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1E021E-4E3F-4FDA-BBBB-BC123420F31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B499F1-DF99-4872-9517-A1B8144C8EDC}">
      <dgm:prSet/>
      <dgm:spPr/>
      <dgm:t>
        <a:bodyPr/>
        <a:lstStyle/>
        <a:p>
          <a:r>
            <a:rPr lang="en-US" b="1"/>
            <a:t>Sources</a:t>
          </a:r>
          <a:endParaRPr lang="en-US"/>
        </a:p>
      </dgm:t>
    </dgm:pt>
    <dgm:pt modelId="{DC325C43-29C5-42CB-97C2-1010F6C8BA0B}" type="parTrans" cxnId="{53BDE2D5-3CDD-49FC-9D9D-5329FC6FD476}">
      <dgm:prSet/>
      <dgm:spPr/>
      <dgm:t>
        <a:bodyPr/>
        <a:lstStyle/>
        <a:p>
          <a:endParaRPr lang="en-US"/>
        </a:p>
      </dgm:t>
    </dgm:pt>
    <dgm:pt modelId="{CC37240B-4662-431E-A2AD-79D1A4560CBA}" type="sibTrans" cxnId="{53BDE2D5-3CDD-49FC-9D9D-5329FC6FD476}">
      <dgm:prSet/>
      <dgm:spPr/>
      <dgm:t>
        <a:bodyPr/>
        <a:lstStyle/>
        <a:p>
          <a:endParaRPr lang="en-US"/>
        </a:p>
      </dgm:t>
    </dgm:pt>
    <dgm:pt modelId="{1710AD4D-0B36-496F-9A76-DBFC6AA74708}">
      <dgm:prSet/>
      <dgm:spPr/>
      <dgm:t>
        <a:bodyPr/>
        <a:lstStyle/>
        <a:p>
          <a:r>
            <a:rPr lang="en-US"/>
            <a:t>Industrial emissions</a:t>
          </a:r>
        </a:p>
      </dgm:t>
    </dgm:pt>
    <dgm:pt modelId="{7E9166F2-BE68-4500-BF78-37876F8B91BF}" type="parTrans" cxnId="{0F6DC60E-7EA2-41A5-9B7C-E56C2D447820}">
      <dgm:prSet/>
      <dgm:spPr/>
      <dgm:t>
        <a:bodyPr/>
        <a:lstStyle/>
        <a:p>
          <a:endParaRPr lang="en-US"/>
        </a:p>
      </dgm:t>
    </dgm:pt>
    <dgm:pt modelId="{C0129A02-D983-4884-999B-1785CA101C5E}" type="sibTrans" cxnId="{0F6DC60E-7EA2-41A5-9B7C-E56C2D447820}">
      <dgm:prSet/>
      <dgm:spPr/>
      <dgm:t>
        <a:bodyPr/>
        <a:lstStyle/>
        <a:p>
          <a:endParaRPr lang="en-US"/>
        </a:p>
      </dgm:t>
    </dgm:pt>
    <dgm:pt modelId="{025CCEF6-B8F1-4D8D-84B2-B1024B2546CC}">
      <dgm:prSet/>
      <dgm:spPr/>
      <dgm:t>
        <a:bodyPr/>
        <a:lstStyle/>
        <a:p>
          <a:r>
            <a:rPr lang="en-US" dirty="0"/>
            <a:t>Mining activities</a:t>
          </a:r>
        </a:p>
      </dgm:t>
    </dgm:pt>
    <dgm:pt modelId="{C7DC1AEB-0479-4296-AA21-C13DB57DA3E0}" type="parTrans" cxnId="{F9FE3142-DCE0-45D4-A046-3B7951E149DC}">
      <dgm:prSet/>
      <dgm:spPr/>
      <dgm:t>
        <a:bodyPr/>
        <a:lstStyle/>
        <a:p>
          <a:endParaRPr lang="en-US"/>
        </a:p>
      </dgm:t>
    </dgm:pt>
    <dgm:pt modelId="{CB821BF0-E297-4581-9ACF-257F6A1C74CB}" type="sibTrans" cxnId="{F9FE3142-DCE0-45D4-A046-3B7951E149DC}">
      <dgm:prSet/>
      <dgm:spPr/>
      <dgm:t>
        <a:bodyPr/>
        <a:lstStyle/>
        <a:p>
          <a:endParaRPr lang="en-US"/>
        </a:p>
      </dgm:t>
    </dgm:pt>
    <dgm:pt modelId="{89D80156-3442-460E-B9E4-AA8A2DE1F1AD}">
      <dgm:prSet/>
      <dgm:spPr/>
      <dgm:t>
        <a:bodyPr/>
        <a:lstStyle/>
        <a:p>
          <a:r>
            <a:rPr lang="en-US" dirty="0"/>
            <a:t>Contaminated water</a:t>
          </a:r>
        </a:p>
      </dgm:t>
    </dgm:pt>
    <dgm:pt modelId="{DF8324DE-FFF8-4A2D-A016-B8C36BD812E9}" type="parTrans" cxnId="{65802932-948F-45DC-85C9-B5768232F7ED}">
      <dgm:prSet/>
      <dgm:spPr/>
      <dgm:t>
        <a:bodyPr/>
        <a:lstStyle/>
        <a:p>
          <a:endParaRPr lang="en-US"/>
        </a:p>
      </dgm:t>
    </dgm:pt>
    <dgm:pt modelId="{B11A24F0-5E29-4AFB-A5D2-C3D95FACAFBE}" type="sibTrans" cxnId="{65802932-948F-45DC-85C9-B5768232F7ED}">
      <dgm:prSet/>
      <dgm:spPr/>
      <dgm:t>
        <a:bodyPr/>
        <a:lstStyle/>
        <a:p>
          <a:endParaRPr lang="en-US"/>
        </a:p>
      </dgm:t>
    </dgm:pt>
    <dgm:pt modelId="{CD8B73F6-5642-47A2-AD54-321D430109E3}">
      <dgm:prSet/>
      <dgm:spPr/>
      <dgm:t>
        <a:bodyPr/>
        <a:lstStyle/>
        <a:p>
          <a:r>
            <a:rPr lang="en-US" dirty="0"/>
            <a:t>fertilizers/pesticides</a:t>
          </a:r>
        </a:p>
      </dgm:t>
    </dgm:pt>
    <dgm:pt modelId="{3D6F9D11-0F97-461B-AC7A-779CAAD32C74}" type="parTrans" cxnId="{0D595626-26A0-4E7E-A03C-A5B63C9DED22}">
      <dgm:prSet/>
      <dgm:spPr/>
      <dgm:t>
        <a:bodyPr/>
        <a:lstStyle/>
        <a:p>
          <a:endParaRPr lang="en-US"/>
        </a:p>
      </dgm:t>
    </dgm:pt>
    <dgm:pt modelId="{7208F243-E6C5-4B3A-9A19-C4ACDD0F3D72}" type="sibTrans" cxnId="{0D595626-26A0-4E7E-A03C-A5B63C9DED22}">
      <dgm:prSet/>
      <dgm:spPr/>
      <dgm:t>
        <a:bodyPr/>
        <a:lstStyle/>
        <a:p>
          <a:endParaRPr lang="en-US"/>
        </a:p>
      </dgm:t>
    </dgm:pt>
    <dgm:pt modelId="{F5282CC4-2546-4366-8169-1A63D813CC4C}">
      <dgm:prSet/>
      <dgm:spPr/>
      <dgm:t>
        <a:bodyPr/>
        <a:lstStyle/>
        <a:p>
          <a:r>
            <a:rPr lang="en-US"/>
            <a:t>Cigarette smoke</a:t>
          </a:r>
        </a:p>
      </dgm:t>
    </dgm:pt>
    <dgm:pt modelId="{2506061A-FD1A-4E31-860F-EFDFE6515A3E}" type="parTrans" cxnId="{1690E1B6-E1C2-48E4-A550-D4C52EE6C57B}">
      <dgm:prSet/>
      <dgm:spPr/>
      <dgm:t>
        <a:bodyPr/>
        <a:lstStyle/>
        <a:p>
          <a:endParaRPr lang="en-US"/>
        </a:p>
      </dgm:t>
    </dgm:pt>
    <dgm:pt modelId="{A56085DC-7C77-4718-8964-672D18398717}" type="sibTrans" cxnId="{1690E1B6-E1C2-48E4-A550-D4C52EE6C57B}">
      <dgm:prSet/>
      <dgm:spPr/>
      <dgm:t>
        <a:bodyPr/>
        <a:lstStyle/>
        <a:p>
          <a:endParaRPr lang="en-US"/>
        </a:p>
      </dgm:t>
    </dgm:pt>
    <dgm:pt modelId="{8F28C1B9-2402-4FA5-B618-D8D13B4EF674}">
      <dgm:prSet/>
      <dgm:spPr/>
      <dgm:t>
        <a:bodyPr/>
        <a:lstStyle/>
        <a:p>
          <a:r>
            <a:rPr lang="en-US"/>
            <a:t>Electronic waste</a:t>
          </a:r>
        </a:p>
      </dgm:t>
    </dgm:pt>
    <dgm:pt modelId="{3173C0A1-D546-4202-9D9B-6196712ABC0B}" type="parTrans" cxnId="{9EF31E3A-643B-42F2-A000-C7027C6CF2E6}">
      <dgm:prSet/>
      <dgm:spPr/>
      <dgm:t>
        <a:bodyPr/>
        <a:lstStyle/>
        <a:p>
          <a:endParaRPr lang="en-US"/>
        </a:p>
      </dgm:t>
    </dgm:pt>
    <dgm:pt modelId="{EB922AFE-FDAE-411B-9CB1-C10866F3DC33}" type="sibTrans" cxnId="{9EF31E3A-643B-42F2-A000-C7027C6CF2E6}">
      <dgm:prSet/>
      <dgm:spPr/>
      <dgm:t>
        <a:bodyPr/>
        <a:lstStyle/>
        <a:p>
          <a:endParaRPr lang="en-US"/>
        </a:p>
      </dgm:t>
    </dgm:pt>
    <dgm:pt modelId="{06A6F292-4EF0-4F2F-B326-512A34E497F9}" type="pres">
      <dgm:prSet presAssocID="{A91E021E-4E3F-4FDA-BBBB-BC123420F319}" presName="Name0" presStyleCnt="0">
        <dgm:presLayoutVars>
          <dgm:dir/>
          <dgm:animLvl val="lvl"/>
          <dgm:resizeHandles val="exact"/>
        </dgm:presLayoutVars>
      </dgm:prSet>
      <dgm:spPr/>
    </dgm:pt>
    <dgm:pt modelId="{22706E53-A26E-4BFC-991A-E8C228305B96}" type="pres">
      <dgm:prSet presAssocID="{5EB499F1-DF99-4872-9517-A1B8144C8EDC}" presName="linNode" presStyleCnt="0"/>
      <dgm:spPr/>
    </dgm:pt>
    <dgm:pt modelId="{FD2471FC-BE78-4EFD-9A57-F4F7C57F97CF}" type="pres">
      <dgm:prSet presAssocID="{5EB499F1-DF99-4872-9517-A1B8144C8EDC}" presName="parentText" presStyleLbl="node1" presStyleIdx="0" presStyleCnt="1" custLinFactNeighborX="1396" custLinFactNeighborY="-17913">
        <dgm:presLayoutVars>
          <dgm:chMax val="1"/>
          <dgm:bulletEnabled val="1"/>
        </dgm:presLayoutVars>
      </dgm:prSet>
      <dgm:spPr/>
    </dgm:pt>
    <dgm:pt modelId="{FDFE8737-E07E-472B-A657-E6B410244FC2}" type="pres">
      <dgm:prSet presAssocID="{5EB499F1-DF99-4872-9517-A1B8144C8EDC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F6DC60E-7EA2-41A5-9B7C-E56C2D447820}" srcId="{5EB499F1-DF99-4872-9517-A1B8144C8EDC}" destId="{1710AD4D-0B36-496F-9A76-DBFC6AA74708}" srcOrd="0" destOrd="0" parTransId="{7E9166F2-BE68-4500-BF78-37876F8B91BF}" sibTransId="{C0129A02-D983-4884-999B-1785CA101C5E}"/>
    <dgm:cxn modelId="{0D595626-26A0-4E7E-A03C-A5B63C9DED22}" srcId="{5EB499F1-DF99-4872-9517-A1B8144C8EDC}" destId="{CD8B73F6-5642-47A2-AD54-321D430109E3}" srcOrd="3" destOrd="0" parTransId="{3D6F9D11-0F97-461B-AC7A-779CAAD32C74}" sibTransId="{7208F243-E6C5-4B3A-9A19-C4ACDD0F3D72}"/>
    <dgm:cxn modelId="{0E9C322D-79B3-45D4-985C-8A61F1BB7276}" type="presOf" srcId="{025CCEF6-B8F1-4D8D-84B2-B1024B2546CC}" destId="{FDFE8737-E07E-472B-A657-E6B410244FC2}" srcOrd="0" destOrd="1" presId="urn:microsoft.com/office/officeart/2005/8/layout/vList5"/>
    <dgm:cxn modelId="{65802932-948F-45DC-85C9-B5768232F7ED}" srcId="{5EB499F1-DF99-4872-9517-A1B8144C8EDC}" destId="{89D80156-3442-460E-B9E4-AA8A2DE1F1AD}" srcOrd="2" destOrd="0" parTransId="{DF8324DE-FFF8-4A2D-A016-B8C36BD812E9}" sibTransId="{B11A24F0-5E29-4AFB-A5D2-C3D95FACAFBE}"/>
    <dgm:cxn modelId="{9EF31E3A-643B-42F2-A000-C7027C6CF2E6}" srcId="{5EB499F1-DF99-4872-9517-A1B8144C8EDC}" destId="{8F28C1B9-2402-4FA5-B618-D8D13B4EF674}" srcOrd="5" destOrd="0" parTransId="{3173C0A1-D546-4202-9D9B-6196712ABC0B}" sibTransId="{EB922AFE-FDAE-411B-9CB1-C10866F3DC33}"/>
    <dgm:cxn modelId="{DF61F560-96F8-4936-96A4-217AD66A72CD}" type="presOf" srcId="{F5282CC4-2546-4366-8169-1A63D813CC4C}" destId="{FDFE8737-E07E-472B-A657-E6B410244FC2}" srcOrd="0" destOrd="4" presId="urn:microsoft.com/office/officeart/2005/8/layout/vList5"/>
    <dgm:cxn modelId="{F9FE3142-DCE0-45D4-A046-3B7951E149DC}" srcId="{5EB499F1-DF99-4872-9517-A1B8144C8EDC}" destId="{025CCEF6-B8F1-4D8D-84B2-B1024B2546CC}" srcOrd="1" destOrd="0" parTransId="{C7DC1AEB-0479-4296-AA21-C13DB57DA3E0}" sibTransId="{CB821BF0-E297-4581-9ACF-257F6A1C74CB}"/>
    <dgm:cxn modelId="{3F76BA70-5646-43E4-A5C3-B80BEFD9316B}" type="presOf" srcId="{CD8B73F6-5642-47A2-AD54-321D430109E3}" destId="{FDFE8737-E07E-472B-A657-E6B410244FC2}" srcOrd="0" destOrd="3" presId="urn:microsoft.com/office/officeart/2005/8/layout/vList5"/>
    <dgm:cxn modelId="{C14F1589-95DD-4FFA-BCF0-B4F88EE36137}" type="presOf" srcId="{89D80156-3442-460E-B9E4-AA8A2DE1F1AD}" destId="{FDFE8737-E07E-472B-A657-E6B410244FC2}" srcOrd="0" destOrd="2" presId="urn:microsoft.com/office/officeart/2005/8/layout/vList5"/>
    <dgm:cxn modelId="{713BA094-B894-4FDC-A92C-EF54443572EA}" type="presOf" srcId="{8F28C1B9-2402-4FA5-B618-D8D13B4EF674}" destId="{FDFE8737-E07E-472B-A657-E6B410244FC2}" srcOrd="0" destOrd="5" presId="urn:microsoft.com/office/officeart/2005/8/layout/vList5"/>
    <dgm:cxn modelId="{0FDB469E-4AFE-4C04-97CC-26257235E55C}" type="presOf" srcId="{5EB499F1-DF99-4872-9517-A1B8144C8EDC}" destId="{FD2471FC-BE78-4EFD-9A57-F4F7C57F97CF}" srcOrd="0" destOrd="0" presId="urn:microsoft.com/office/officeart/2005/8/layout/vList5"/>
    <dgm:cxn modelId="{9BC38FA2-C58F-46E1-8BE0-FF87ED508C7F}" type="presOf" srcId="{A91E021E-4E3F-4FDA-BBBB-BC123420F319}" destId="{06A6F292-4EF0-4F2F-B326-512A34E497F9}" srcOrd="0" destOrd="0" presId="urn:microsoft.com/office/officeart/2005/8/layout/vList5"/>
    <dgm:cxn modelId="{1690E1B6-E1C2-48E4-A550-D4C52EE6C57B}" srcId="{5EB499F1-DF99-4872-9517-A1B8144C8EDC}" destId="{F5282CC4-2546-4366-8169-1A63D813CC4C}" srcOrd="4" destOrd="0" parTransId="{2506061A-FD1A-4E31-860F-EFDFE6515A3E}" sibTransId="{A56085DC-7C77-4718-8964-672D18398717}"/>
    <dgm:cxn modelId="{A32F2CCB-4BAB-4669-8134-D4CF381964F2}" type="presOf" srcId="{1710AD4D-0B36-496F-9A76-DBFC6AA74708}" destId="{FDFE8737-E07E-472B-A657-E6B410244FC2}" srcOrd="0" destOrd="0" presId="urn:microsoft.com/office/officeart/2005/8/layout/vList5"/>
    <dgm:cxn modelId="{53BDE2D5-3CDD-49FC-9D9D-5329FC6FD476}" srcId="{A91E021E-4E3F-4FDA-BBBB-BC123420F319}" destId="{5EB499F1-DF99-4872-9517-A1B8144C8EDC}" srcOrd="0" destOrd="0" parTransId="{DC325C43-29C5-42CB-97C2-1010F6C8BA0B}" sibTransId="{CC37240B-4662-431E-A2AD-79D1A4560CBA}"/>
    <dgm:cxn modelId="{255600C8-3F5C-4453-8733-2DF7A2203CEA}" type="presParOf" srcId="{06A6F292-4EF0-4F2F-B326-512A34E497F9}" destId="{22706E53-A26E-4BFC-991A-E8C228305B96}" srcOrd="0" destOrd="0" presId="urn:microsoft.com/office/officeart/2005/8/layout/vList5"/>
    <dgm:cxn modelId="{E9CB04D8-288B-4CDD-9EFE-2E03D751F1ED}" type="presParOf" srcId="{22706E53-A26E-4BFC-991A-E8C228305B96}" destId="{FD2471FC-BE78-4EFD-9A57-F4F7C57F97CF}" srcOrd="0" destOrd="0" presId="urn:microsoft.com/office/officeart/2005/8/layout/vList5"/>
    <dgm:cxn modelId="{33975BEB-F0B7-42D9-8B74-84642D030C11}" type="presParOf" srcId="{22706E53-A26E-4BFC-991A-E8C228305B96}" destId="{FDFE8737-E07E-472B-A657-E6B410244FC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C6350-AF45-4F2B-ACEC-56D34F409050}">
      <dsp:nvSpPr>
        <dsp:cNvPr id="0" name=""/>
        <dsp:cNvSpPr/>
      </dsp:nvSpPr>
      <dsp:spPr>
        <a:xfrm>
          <a:off x="2030330" y="1443103"/>
          <a:ext cx="943856" cy="64160"/>
        </a:xfrm>
        <a:custGeom>
          <a:avLst/>
          <a:gdLst/>
          <a:ahLst/>
          <a:cxnLst/>
          <a:rect l="0" t="0" r="0" b="0"/>
          <a:pathLst>
            <a:path>
              <a:moveTo>
                <a:pt x="0" y="32080"/>
              </a:moveTo>
              <a:lnTo>
                <a:pt x="943856" y="3208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56A616-73B7-43D7-A8B0-DB1EB342F01D}">
      <dsp:nvSpPr>
        <dsp:cNvPr id="0" name=""/>
        <dsp:cNvSpPr/>
      </dsp:nvSpPr>
      <dsp:spPr>
        <a:xfrm>
          <a:off x="7463" y="287"/>
          <a:ext cx="2388244" cy="2949792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000" r="-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5563D-0A74-43C0-BE23-04D1C5576500}">
      <dsp:nvSpPr>
        <dsp:cNvPr id="0" name=""/>
        <dsp:cNvSpPr/>
      </dsp:nvSpPr>
      <dsp:spPr>
        <a:xfrm>
          <a:off x="2974187" y="849029"/>
          <a:ext cx="1432946" cy="12523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Effects:</a:t>
          </a:r>
          <a:endParaRPr lang="en-US" sz="2200" kern="1200" dirty="0"/>
        </a:p>
      </dsp:txBody>
      <dsp:txXfrm>
        <a:off x="3184037" y="1032425"/>
        <a:ext cx="1013246" cy="885517"/>
      </dsp:txXfrm>
    </dsp:sp>
    <dsp:sp modelId="{C8C50A9F-1F86-4518-804D-973213AC99BB}">
      <dsp:nvSpPr>
        <dsp:cNvPr id="0" name=""/>
        <dsp:cNvSpPr/>
      </dsp:nvSpPr>
      <dsp:spPr>
        <a:xfrm>
          <a:off x="4550428" y="849029"/>
          <a:ext cx="2149420" cy="12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rial" panose="020B0604020202020204" pitchFamily="34" charset="0"/>
              <a:cs typeface="Arial" panose="020B0604020202020204" pitchFamily="34" charset="0"/>
            </a:rPr>
            <a:t>Oxidative stress</a:t>
          </a:r>
        </a:p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Organ damage</a:t>
          </a:r>
        </a:p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rial" panose="020B0604020202020204" pitchFamily="34" charset="0"/>
              <a:cs typeface="Arial" panose="020B0604020202020204" pitchFamily="34" charset="0"/>
            </a:rPr>
            <a:t>Cancer</a:t>
          </a:r>
        </a:p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rial" panose="020B0604020202020204" pitchFamily="34" charset="0"/>
              <a:cs typeface="Arial" panose="020B0604020202020204" pitchFamily="34" charset="0"/>
            </a:rPr>
            <a:t>Neurological disorder</a:t>
          </a:r>
        </a:p>
      </dsp:txBody>
      <dsp:txXfrm>
        <a:off x="4550428" y="849029"/>
        <a:ext cx="2149420" cy="12523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5482B-DE28-4D97-9AA3-5E9CB5F182C1}">
      <dsp:nvSpPr>
        <dsp:cNvPr id="0" name=""/>
        <dsp:cNvSpPr/>
      </dsp:nvSpPr>
      <dsp:spPr>
        <a:xfrm rot="5400000">
          <a:off x="2239759" y="-224836"/>
          <a:ext cx="1388642" cy="2761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Inhalation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Ingestion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Dermal absorption</a:t>
          </a:r>
        </a:p>
      </dsp:txBody>
      <dsp:txXfrm rot="-5400000">
        <a:off x="1553336" y="529375"/>
        <a:ext cx="2693700" cy="1253066"/>
      </dsp:txXfrm>
    </dsp:sp>
    <dsp:sp modelId="{2499BC94-1DAC-4DFA-AD42-8D788517B392}">
      <dsp:nvSpPr>
        <dsp:cNvPr id="0" name=""/>
        <dsp:cNvSpPr/>
      </dsp:nvSpPr>
      <dsp:spPr>
        <a:xfrm>
          <a:off x="0" y="197267"/>
          <a:ext cx="1553337" cy="1917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Routes of Exposure</a:t>
          </a:r>
          <a:endParaRPr lang="en-US" sz="2200" kern="1200"/>
        </a:p>
      </dsp:txBody>
      <dsp:txXfrm>
        <a:off x="75828" y="273095"/>
        <a:ext cx="1401681" cy="17656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E8737-E07E-472B-A657-E6B410244FC2}">
      <dsp:nvSpPr>
        <dsp:cNvPr id="0" name=""/>
        <dsp:cNvSpPr/>
      </dsp:nvSpPr>
      <dsp:spPr>
        <a:xfrm rot="5400000">
          <a:off x="2444831" y="-446723"/>
          <a:ext cx="1805940" cy="3150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Industrial emissions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Mining activities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Contaminated water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fertilizers/pesticides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Cigarette smoke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Electronic waste</a:t>
          </a:r>
        </a:p>
      </dsp:txBody>
      <dsp:txXfrm rot="-5400000">
        <a:off x="1772366" y="313901"/>
        <a:ext cx="3062712" cy="1629622"/>
      </dsp:txXfrm>
    </dsp:sp>
    <dsp:sp modelId="{FD2471FC-BE78-4EFD-9A57-F4F7C57F97CF}">
      <dsp:nvSpPr>
        <dsp:cNvPr id="0" name=""/>
        <dsp:cNvSpPr/>
      </dsp:nvSpPr>
      <dsp:spPr>
        <a:xfrm>
          <a:off x="43986" y="0"/>
          <a:ext cx="1772365" cy="2257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Sources</a:t>
          </a:r>
          <a:endParaRPr lang="en-US" sz="2800" kern="1200"/>
        </a:p>
      </dsp:txBody>
      <dsp:txXfrm>
        <a:off x="130506" y="86520"/>
        <a:ext cx="1599325" cy="2084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D78F4D-B89F-5AD6-8E58-8E3E135112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BBC677-4EA3-3FD5-25DD-6C438310C0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67DCD-FF23-42D8-BCB0-2B64AA85DFB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4999C-51B1-9DC9-4E9B-D03663DEA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2DB06-3FF8-C893-1E2B-1389DE6223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B6CA8-91B4-4574-9463-BC59EB919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05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0F554-8AFE-435F-875C-05AA63C6282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E6D74-6946-45EF-A6BF-CC3E3754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242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E6D74-6946-45EF-A6BF-CC3E37548A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58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E6D74-6946-45EF-A6BF-CC3E37548A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66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4099A76-82C4-4107-A1DE-5955A5344332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7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1105-3522-4961-AF9B-11E080479967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D95E-BF49-40BE-8A60-6CC3757A572F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11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EC1B-2092-42D6-810B-CDD3F3E1CB19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C5E3D-0323-4349-92FE-B58CD426F5BB}" type="datetime1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5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608B-1530-4191-8362-269A765BE409}" type="datetime1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2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6868-F627-45B3-A9CD-F2DC1D77AF12}" type="datetime1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2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297C-9A28-4BBC-AEBD-56A2799E1B18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3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F9CBF-6B05-497C-A291-027BECD2F25C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2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2ECB-0E61-4468-B5DE-751D25EEABA8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0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27109-69D9-4912-94D0-7F722CCFC378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89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F1919-70A0-4417-848B-F575EE4C93F2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33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0E96-2480-4A99-A383-B6876A3C87EE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92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0DBF-94C0-4428-95C0-B50F11B12525}" type="datetime1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53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16C5-00AF-4168-A3FC-85C120394994}" type="datetime1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57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8A1D9E2-AF76-445E-B374-C986DB978DE7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01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FF6F23B-BA72-40DC-9620-F0A16E2AEFE6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06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7CCB5C7-0024-4056-AD3F-E31A1767BC3B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FC57D87-A5A8-49F2-8217-3935E4A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9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7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CD64-9E05-C525-B799-A91A4C4AB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664369"/>
            <a:ext cx="10801350" cy="3246767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SEMINAR PRESENTATION</a:t>
            </a:r>
            <a:b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</a:t>
            </a:r>
            <a:b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MOLECULAR MECHANISM OF HEAVY METAL TOXICITY IN HUMANS AND BIOMATERIAL-BASED THERAPEUTIC STRATEGIES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5980B-EBEC-5383-0DB0-8DEC2FE29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4" y="4036219"/>
            <a:ext cx="10801349" cy="2157411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OKWURU, JENNIFER UKAH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25010101020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SUPERVISOR: DR. ADEBAMI GBOYEGA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 supervisor: dr. fagbenro silas olakunle</a:t>
            </a:r>
          </a:p>
        </p:txBody>
      </p:sp>
    </p:spTree>
    <p:extLst>
      <p:ext uri="{BB962C8B-B14F-4D97-AF65-F5344CB8AC3E}">
        <p14:creationId xmlns:p14="http://schemas.microsoft.com/office/powerpoint/2010/main" val="1849782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49C8-DBE7-1FC1-54E1-4F2D53F5E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74" y="882706"/>
            <a:ext cx="3865134" cy="45719"/>
          </a:xfrm>
        </p:spPr>
        <p:txBody>
          <a:bodyPr>
            <a:no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A0B0D4-567B-E871-1CD4-FB246B957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7567" y="1063416"/>
            <a:ext cx="4631348" cy="4654604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heavy metals are dangerous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Toxic Heavy Metals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 and Routes of Exposure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Molecular mechanisms of Toxicity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Therapeutic Strategies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&amp; future perspectives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6B52B7C-A5F9-B0C6-4908-AAC19FE49A1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5" r="24455"/>
          <a:stretch>
            <a:fillRect/>
          </a:stretch>
        </p:blipFill>
        <p:spPr>
          <a:xfrm>
            <a:off x="6829425" y="1150144"/>
            <a:ext cx="5086919" cy="4572000"/>
          </a:xfrm>
          <a:effectLst>
            <a:glow rad="127000">
              <a:schemeClr val="accent1">
                <a:alpha val="0"/>
              </a:schemeClr>
            </a:glow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A18520-0842-FC15-3B14-2AE87B75A977}"/>
              </a:ext>
            </a:extLst>
          </p:cNvPr>
          <p:cNvSpPr txBox="1"/>
          <p:nvPr/>
        </p:nvSpPr>
        <p:spPr>
          <a:xfrm>
            <a:off x="6193633" y="5731274"/>
            <a:ext cx="5929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Zhao, J. (2009). Turning to nanotechnology for pollution control: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Applications of nanoparticles. Dartmouth Undergraduate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Journal of Science.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05A56-32FC-1947-8024-31EFBF3F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70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2B8C-A176-7F69-DCA9-600C01A6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78" y="396242"/>
            <a:ext cx="3865134" cy="6248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INTRODUCTION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2308AA4-9514-203E-5DB8-C217AB44499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35" r="26235"/>
          <a:stretch>
            <a:fillRect/>
          </a:stretch>
        </p:blipFill>
        <p:spPr>
          <a:xfrm>
            <a:off x="9281160" y="1021081"/>
            <a:ext cx="2743201" cy="211264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876A8-D4E1-8537-7DC9-365C98614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1082650"/>
            <a:ext cx="5215646" cy="3783024"/>
          </a:xfrm>
        </p:spPr>
        <p:txBody>
          <a:bodyPr>
            <a:noAutofit/>
          </a:bodyPr>
          <a:lstStyle/>
          <a:p>
            <a:pPr marL="227013" indent="-227013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Heavy metals are naturally occurring metallic elements with high density that can be toxic to living organisms even at low concentrations. They constitute environmental pollutants (</a:t>
            </a:r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Jomova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2025).</a:t>
            </a:r>
          </a:p>
          <a:p>
            <a:pPr marL="227013" indent="-223838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accumulate in human tissues and disrupt cellular functions (Kim </a:t>
            </a:r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2022).</a:t>
            </a:r>
          </a:p>
          <a:p>
            <a:pPr marL="227013" indent="-223838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human exposure is increasing globally due to industrialization and pollution (Singh </a:t>
            </a:r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2024).</a:t>
            </a:r>
          </a:p>
          <a:p>
            <a:pPr marL="227013" indent="-223838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Cause severe health complications (</a:t>
            </a:r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Jomova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2025)</a:t>
            </a:r>
          </a:p>
          <a:p>
            <a:pPr algn="just">
              <a:lnSpc>
                <a:spcPct val="12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umert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2D0D4-5106-FBBB-B27D-7A4875E3792F}"/>
              </a:ext>
            </a:extLst>
          </p:cNvPr>
          <p:cNvSpPr txBox="1"/>
          <p:nvPr/>
        </p:nvSpPr>
        <p:spPr>
          <a:xfrm>
            <a:off x="5881330" y="5861341"/>
            <a:ext cx="6367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Figure1-3</a:t>
            </a:r>
            <a:r>
              <a:rPr lang="en-US" sz="1400" dirty="0"/>
              <a:t>. Environmental pollution of heavy metals from industrial</a:t>
            </a:r>
          </a:p>
          <a:p>
            <a:pPr algn="ctr"/>
            <a:r>
              <a:rPr lang="en-US" sz="1400" dirty="0"/>
              <a:t> wastes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245C14-E798-780E-3876-8369FE7EC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830" y="996659"/>
            <a:ext cx="2952750" cy="2310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D08475-AD04-029A-76CB-CDE4D78AC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568" y="3429000"/>
            <a:ext cx="2952750" cy="238029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F6C83B-D6F6-A4A4-6523-5305AAE3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00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B7A991-D199-8662-9DB7-40D8EBA2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584933" cy="70696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HEAVY METALS ARE DANGEROUS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5830C-E2AD-F71F-BEF0-E69995B74B6D}"/>
              </a:ext>
            </a:extLst>
          </p:cNvPr>
          <p:cNvSpPr txBox="1"/>
          <p:nvPr/>
        </p:nvSpPr>
        <p:spPr>
          <a:xfrm>
            <a:off x="455485" y="2455736"/>
            <a:ext cx="42933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Heavy metals are hazardous because they are non-biodegradable and persist in the environment for long periods.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They accumulate in human tissues and increase in concentration through food chains, leading to chronic toxicity, organ damage and serious health disorders even at low exposure levels. (Rajput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., 2024)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6780448-AEF6-FF04-8DFE-C5F444942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763028"/>
              </p:ext>
            </p:extLst>
          </p:nvPr>
        </p:nvGraphicFramePr>
        <p:xfrm>
          <a:off x="5036343" y="2757488"/>
          <a:ext cx="6700171" cy="295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1F1D2E-4C53-E02E-9844-E176BA1D7D6B}"/>
              </a:ext>
            </a:extLst>
          </p:cNvPr>
          <p:cNvSpPr txBox="1"/>
          <p:nvPr/>
        </p:nvSpPr>
        <p:spPr>
          <a:xfrm>
            <a:off x="8057361" y="5997714"/>
            <a:ext cx="4513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Adapted from; (Mishra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2022)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13554-535F-3493-2EA4-128460B84B35}"/>
              </a:ext>
            </a:extLst>
          </p:cNvPr>
          <p:cNvSpPr txBox="1"/>
          <p:nvPr/>
        </p:nvSpPr>
        <p:spPr>
          <a:xfrm>
            <a:off x="8057361" y="5715055"/>
            <a:ext cx="4364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Figure 4: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showing effects of heavy metals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81B84-B2C8-E641-63D2-87D79358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9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0D0EF2-F45C-8BDB-C77E-02ADB39E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COMMON TOXIC HEAVY METALS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09E0A5-9DCC-AE70-D3B3-FE85A5CF7E5D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EBCDBE-D83A-5C33-1C3E-8AE0C4ADC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550F119-E504-10AF-7189-3DE2D8D456BD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Batteries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Seafood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Cigarettes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Groundwater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Industries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F516BA-DB66-CF60-8BE5-D97866DE8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F52FC7-3208-297D-C153-67D90D7A1B3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Neurotoxicity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Brain damage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Kidney damage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Cancer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DNA damage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82F454-9838-006F-2130-E99B24ED0788}"/>
              </a:ext>
            </a:extLst>
          </p:cNvPr>
          <p:cNvSpPr txBox="1"/>
          <p:nvPr/>
        </p:nvSpPr>
        <p:spPr>
          <a:xfrm flipH="1">
            <a:off x="7493039" y="6206951"/>
            <a:ext cx="377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Kim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., 2022; Jomova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., 2025)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36029-4416-82BB-635D-D93F4E787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119783"/>
              </p:ext>
            </p:extLst>
          </p:nvPr>
        </p:nvGraphicFramePr>
        <p:xfrm>
          <a:off x="921291" y="2323475"/>
          <a:ext cx="10112575" cy="395442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286287">
                  <a:extLst>
                    <a:ext uri="{9D8B030D-6E8A-4147-A177-3AD203B41FA5}">
                      <a16:colId xmlns:a16="http://schemas.microsoft.com/office/drawing/2014/main" val="600786351"/>
                    </a:ext>
                  </a:extLst>
                </a:gridCol>
                <a:gridCol w="3413144">
                  <a:extLst>
                    <a:ext uri="{9D8B030D-6E8A-4147-A177-3AD203B41FA5}">
                      <a16:colId xmlns:a16="http://schemas.microsoft.com/office/drawing/2014/main" val="1156360796"/>
                    </a:ext>
                  </a:extLst>
                </a:gridCol>
                <a:gridCol w="3413144">
                  <a:extLst>
                    <a:ext uri="{9D8B030D-6E8A-4147-A177-3AD203B41FA5}">
                      <a16:colId xmlns:a16="http://schemas.microsoft.com/office/drawing/2014/main" val="2260013112"/>
                    </a:ext>
                  </a:extLst>
                </a:gridCol>
              </a:tblGrid>
              <a:tr h="38863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Heavy metals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Toxic effects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462804"/>
                  </a:ext>
                </a:extLst>
              </a:tr>
              <a:tr h="5269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Neurotoxicity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146595"/>
                  </a:ext>
                </a:extLst>
              </a:tr>
              <a:tr h="5269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Mercury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Seafood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Brain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805866"/>
                  </a:ext>
                </a:extLst>
              </a:tr>
              <a:tr h="5269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Cadmium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Cigarettes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Kidney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598284"/>
                  </a:ext>
                </a:extLst>
              </a:tr>
              <a:tr h="5269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Arsenic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Groundwater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Cancer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542148"/>
                  </a:ext>
                </a:extLst>
              </a:tr>
              <a:tr h="5269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Chromium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Industries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DNA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365441"/>
                  </a:ext>
                </a:extLst>
              </a:tr>
              <a:tr h="5269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Copper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Industrial discharge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Liver damage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502948"/>
                  </a:ext>
                </a:extLst>
              </a:tr>
              <a:tr h="3823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Industrial waste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Immune dysfunction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505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F1C99F-F59E-D981-14AE-54D2ED29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01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EE647EF-7BE2-9752-EA13-B69E068C9737}"/>
              </a:ext>
            </a:extLst>
          </p:cNvPr>
          <p:cNvSpPr txBox="1"/>
          <p:nvPr/>
        </p:nvSpPr>
        <p:spPr>
          <a:xfrm flipH="1">
            <a:off x="1325600" y="1063416"/>
            <a:ext cx="723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SOURCES &amp; ROUTES OF EXPOSURE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258EE03-B88D-C5C5-CBCF-A7A6E40BC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553688"/>
              </p:ext>
            </p:extLst>
          </p:nvPr>
        </p:nvGraphicFramePr>
        <p:xfrm>
          <a:off x="885824" y="4346160"/>
          <a:ext cx="4314825" cy="2311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BF94035-0F8D-43EF-CD08-7AFE3FED53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4031414"/>
              </p:ext>
            </p:extLst>
          </p:nvPr>
        </p:nvGraphicFramePr>
        <p:xfrm>
          <a:off x="682227" y="2164556"/>
          <a:ext cx="4923237" cy="2257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1EEBAB-E0D4-1BB7-60F0-C791FBA24186}"/>
              </a:ext>
            </a:extLst>
          </p:cNvPr>
          <p:cNvSpPr txBox="1"/>
          <p:nvPr/>
        </p:nvSpPr>
        <p:spPr>
          <a:xfrm>
            <a:off x="964522" y="6488698"/>
            <a:ext cx="2843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(Singh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., 2024)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555CC-890D-E020-6DA6-507B1D8D8D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537" y="2513048"/>
            <a:ext cx="4986338" cy="36662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77C2D9-6C2D-B83F-BEE3-B76AB9C4A3F9}"/>
              </a:ext>
            </a:extLst>
          </p:cNvPr>
          <p:cNvSpPr txBox="1"/>
          <p:nvPr/>
        </p:nvSpPr>
        <p:spPr>
          <a:xfrm>
            <a:off x="6379368" y="6208208"/>
            <a:ext cx="6607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5.</a:t>
            </a:r>
            <a:r>
              <a:rPr lang="en-US" sz="1400" dirty="0"/>
              <a:t> showing routes of exposure</a:t>
            </a:r>
          </a:p>
          <a:p>
            <a:r>
              <a:rPr lang="en-US" sz="1400" b="1" dirty="0"/>
              <a:t>Source:</a:t>
            </a:r>
            <a:r>
              <a:rPr lang="en-US" sz="1400" dirty="0"/>
              <a:t> National institute for occupational safety health(2024)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9EE3E3-56E5-D9D7-8265-5A9A82C7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4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086C-F6BE-E2DE-B9AA-8A4FC43D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558" y="349854"/>
            <a:ext cx="5360192" cy="1444299"/>
          </a:xfrm>
        </p:spPr>
        <p:txBody>
          <a:bodyPr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MOLECULAR MECHANISMS OF TOXICITY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0441DA-4BE5-26F1-6BE9-2EE5E297E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5663" y="3890993"/>
            <a:ext cx="3757545" cy="2283824"/>
          </a:xfrm>
        </p:spPr>
        <p:txBody>
          <a:bodyPr>
            <a:noAutofit/>
          </a:bodyPr>
          <a:lstStyle/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Heavy  Metal Exposure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(Pb, Hg, Cd, As, Cr)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 Generation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Oxidative stress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algn="ctr"/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Apoptosis/Cell death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algn="ctr"/>
            <a:r>
              <a:rPr lang="en-US" sz="1800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 dysfunction</a:t>
            </a: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B442B-08F7-3194-4494-E20B23DF47F1}"/>
              </a:ext>
            </a:extLst>
          </p:cNvPr>
          <p:cNvSpPr txBox="1"/>
          <p:nvPr/>
        </p:nvSpPr>
        <p:spPr>
          <a:xfrm>
            <a:off x="8405164" y="6456643"/>
            <a:ext cx="5671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(Wang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., 2024;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jomova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., 2025)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99CC4-76C1-E038-4F93-7E55088CADA1}"/>
              </a:ext>
            </a:extLst>
          </p:cNvPr>
          <p:cNvSpPr txBox="1"/>
          <p:nvPr/>
        </p:nvSpPr>
        <p:spPr>
          <a:xfrm>
            <a:off x="749972" y="1793656"/>
            <a:ext cx="5295898" cy="419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Heavy metals exert toxicity through several molecular mechanisms, including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reactive oxygen species (ROS) generation leading to oxidative stress, antioxidant depletion, enzyme inhibition, DNA damage, inflammation and apoptosis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(Wang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2024).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processes disrupt normal cellular functions and contribute to tissue injury and organ dysfunction (Jomova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2025)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44B97B-E23F-9735-9380-8F61F2457F17}"/>
              </a:ext>
            </a:extLst>
          </p:cNvPr>
          <p:cNvSpPr/>
          <p:nvPr/>
        </p:nvSpPr>
        <p:spPr>
          <a:xfrm>
            <a:off x="7412830" y="3361136"/>
            <a:ext cx="3071814" cy="142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Antioxidant depletion enzyme inhibition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DNA damage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Mitochondrial damage Inflammation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17171-3194-3768-8E34-2B463F1F1792}"/>
              </a:ext>
            </a:extLst>
          </p:cNvPr>
          <p:cNvSpPr txBox="1"/>
          <p:nvPr/>
        </p:nvSpPr>
        <p:spPr>
          <a:xfrm>
            <a:off x="6955663" y="165187"/>
            <a:ext cx="3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Central mechanism flowchart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D015C-24B7-603C-73EC-F2D24267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08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ED18-B96A-A82E-2540-D73727E6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580" y="709934"/>
            <a:ext cx="10910840" cy="706964"/>
          </a:xfrm>
        </p:spPr>
        <p:txBody>
          <a:bodyPr/>
          <a:lstStyle/>
          <a:p>
            <a:pPr algn="ctr"/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MOLECULAR MECHANISM OF TOXICITY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OXIDATIVE STRESS &amp; MITOCHONDRIAL DAMAGE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BBE405-E79B-ECE8-05E5-63FD56E5213A}"/>
              </a:ext>
            </a:extLst>
          </p:cNvPr>
          <p:cNvSpPr txBox="1"/>
          <p:nvPr/>
        </p:nvSpPr>
        <p:spPr>
          <a:xfrm>
            <a:off x="5587" y="2230574"/>
            <a:ext cx="5225980" cy="4611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Heavy metals stimulate excessive production of reactive oxygen species (ROS), leading to oxidative stress and cellular injury. Increased ROS damages lipids, proteins and DNA, while also impairing mitochondrial function (Jomova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2025).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Mitochondrial damage reduces ATP production, disrupts energy metabolism and triggers apoptosis (programmed cell death), contributing to organ toxicity and tissue degeneration (Kim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2022</a:t>
            </a:r>
            <a:r>
              <a:rPr lang="en-US" dirty="0"/>
              <a:t>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16CD53-F2E0-399F-AC8B-66C8AB75A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987" y="2230574"/>
            <a:ext cx="6686855" cy="3984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641CB3-ACDF-EF36-9D17-443701BA6BA9}"/>
              </a:ext>
            </a:extLst>
          </p:cNvPr>
          <p:cNvSpPr txBox="1"/>
          <p:nvPr/>
        </p:nvSpPr>
        <p:spPr>
          <a:xfrm>
            <a:off x="6256123" y="6237328"/>
            <a:ext cx="5823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Figure 6</a:t>
            </a:r>
            <a:r>
              <a:rPr lang="en-US" sz="1600" dirty="0"/>
              <a:t>. Role of oxidative stress in heavy metal induced mitochondrial damage. Source: (Kim </a:t>
            </a:r>
            <a:r>
              <a:rPr lang="en-US" sz="1600" i="1" dirty="0"/>
              <a:t>et al.</a:t>
            </a:r>
            <a:r>
              <a:rPr lang="en-US" sz="1600" dirty="0"/>
              <a:t>, 2022)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90162-9B1E-B9E3-E7C7-04B5D864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04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9884-0F42-86D8-3D7D-2BF0F5AB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97586" cy="706964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MOLECULAR MECHANISM OF TOXICITY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DNA DAMAGE &amp; INFLAMMATION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AFB4-FA6C-EC90-3C08-EF6115A38A97}"/>
              </a:ext>
            </a:extLst>
          </p:cNvPr>
          <p:cNvSpPr txBox="1"/>
          <p:nvPr/>
        </p:nvSpPr>
        <p:spPr>
          <a:xfrm>
            <a:off x="382281" y="2382653"/>
            <a:ext cx="32003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Heavy metals induce DNA strand breaks, gene mutations, and epigenetic alterations that may contribute to carcinogenesis (Manic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2022)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also activate inflammatory pathways such as NF-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 and cytokine release, resulting in chronic inflammation, cellular injury and tissue degeneration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Coradduzza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2024).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C357A-2226-A0EA-8D4A-530B2931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68F74B-AAB7-FD4C-35D8-8AEF2E042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047" y="2435902"/>
            <a:ext cx="8001702" cy="37324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4FF38D-0D85-8642-3DE5-46EC05EA71DE}"/>
              </a:ext>
            </a:extLst>
          </p:cNvPr>
          <p:cNvSpPr txBox="1"/>
          <p:nvPr/>
        </p:nvSpPr>
        <p:spPr>
          <a:xfrm>
            <a:off x="9915994" y="6460760"/>
            <a:ext cx="196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(Narayanan, 2026)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B0682-9945-E001-99BF-983ECB59E104}"/>
              </a:ext>
            </a:extLst>
          </p:cNvPr>
          <p:cNvSpPr txBox="1"/>
          <p:nvPr/>
        </p:nvSpPr>
        <p:spPr>
          <a:xfrm>
            <a:off x="6575685" y="6192939"/>
            <a:ext cx="6198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Figure 7: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molecular toxicity of heavy metal exposure</a:t>
            </a:r>
          </a:p>
        </p:txBody>
      </p:sp>
    </p:spTree>
    <p:extLst>
      <p:ext uri="{BB962C8B-B14F-4D97-AF65-F5344CB8AC3E}">
        <p14:creationId xmlns:p14="http://schemas.microsoft.com/office/powerpoint/2010/main" val="68583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97F90-BBE1-5DC0-1FE1-4B5E58793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20" y="-463213"/>
            <a:ext cx="4460033" cy="1600200"/>
          </a:xfrm>
        </p:spPr>
        <p:txBody>
          <a:bodyPr/>
          <a:lstStyle/>
          <a:p>
            <a:r>
              <a:rPr lang="en-US" b="1" dirty="0"/>
              <a:t>ORGAN-SPECIFIC TOXICITY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6FAFAC-A98A-668B-6445-7778F1873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454" y="1162430"/>
            <a:ext cx="6574972" cy="478336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FC83C3-8049-E4F6-6606-27557ACAF566}"/>
              </a:ext>
            </a:extLst>
          </p:cNvPr>
          <p:cNvSpPr txBox="1"/>
          <p:nvPr/>
        </p:nvSpPr>
        <p:spPr>
          <a:xfrm>
            <a:off x="9836945" y="5607844"/>
            <a:ext cx="2636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(Nafeesa et al., 2024)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32A9D2-03FF-34D1-F22C-EC7C00A49EA0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592930" y="1464469"/>
            <a:ext cx="4214812" cy="371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Organs affected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Brain → Neurotoxicity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Liver → Hepatoxicity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Kidney →Nephrotoxicity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→Cardiovascular toxicity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Blood → Anemia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Reproductive organ→ Infertility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E3D62-723D-D9F8-EC2E-8892099FB317}"/>
              </a:ext>
            </a:extLst>
          </p:cNvPr>
          <p:cNvSpPr txBox="1"/>
          <p:nvPr/>
        </p:nvSpPr>
        <p:spPr>
          <a:xfrm>
            <a:off x="5673778" y="5899697"/>
            <a:ext cx="73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Figure 8: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Showing the organ-specific toxicity of heavy metals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7B92E-0FFC-82E6-9BEA-2D85A3C6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DE48-4353-C845-5C4C-47DE0551C0FC}"/>
              </a:ext>
            </a:extLst>
          </p:cNvPr>
          <p:cNvSpPr txBox="1"/>
          <p:nvPr/>
        </p:nvSpPr>
        <p:spPr>
          <a:xfrm>
            <a:off x="9546193" y="6192939"/>
            <a:ext cx="245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(Nafeesa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al.,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2024)</a:t>
            </a:r>
          </a:p>
        </p:txBody>
      </p:sp>
    </p:spTree>
    <p:extLst>
      <p:ext uri="{BB962C8B-B14F-4D97-AF65-F5344CB8AC3E}">
        <p14:creationId xmlns:p14="http://schemas.microsoft.com/office/powerpoint/2010/main" val="295236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DBAC-1A29-4ECF-830B-61449189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73" y="930806"/>
            <a:ext cx="8761413" cy="706964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THERAPEUTIC STRATEGIES FOR MANAGING HEAVY METAL TOXICITY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06BDA-583D-4595-95DC-10B798354B67}"/>
              </a:ext>
            </a:extLst>
          </p:cNvPr>
          <p:cNvSpPr txBox="1"/>
          <p:nvPr/>
        </p:nvSpPr>
        <p:spPr>
          <a:xfrm>
            <a:off x="103693" y="1856783"/>
            <a:ext cx="45604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Chelation therapy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This is a medical treatment that removes heavy metals from the body using special binding agents. Chelators include Ethylenediaminetetraacetic acid (EDTA), Dimercatosuccinic acid (DMSA), Dimercaprol.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Limitations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Side effects, poor 	specificity, 	mineral depletion.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(Kim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2022)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Antioxidant therapy: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They neutralize ROS and reductive oxidative stress caused by metal exposure. Common antioxidant agents include glutathione, melatonin, acetylcysteine (Koyama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2024).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188E3-5B5A-833F-2F6B-46DAA602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627" y="163119"/>
            <a:ext cx="838199" cy="767687"/>
          </a:xfrm>
        </p:spPr>
        <p:txBody>
          <a:bodyPr/>
          <a:lstStyle/>
          <a:p>
            <a:fld id="{1FC57D87-A5A8-49F2-8217-3935E4A0971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CE4A0B-9119-38EC-D4DB-6C4D601A3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113" y="2433826"/>
            <a:ext cx="6869126" cy="4019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ECED84-D216-34D7-1091-0B024734C99B}"/>
              </a:ext>
            </a:extLst>
          </p:cNvPr>
          <p:cNvSpPr txBox="1"/>
          <p:nvPr/>
        </p:nvSpPr>
        <p:spPr>
          <a:xfrm>
            <a:off x="9671070" y="6371210"/>
            <a:ext cx="220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(Tigris Valley, 2026)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365CE-9410-93BC-56C7-2C18F8C98CF3}"/>
              </a:ext>
            </a:extLst>
          </p:cNvPr>
          <p:cNvSpPr txBox="1"/>
          <p:nvPr/>
        </p:nvSpPr>
        <p:spPr>
          <a:xfrm>
            <a:off x="7379246" y="6083933"/>
            <a:ext cx="456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Figure 9: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process of chelation therapy</a:t>
            </a:r>
          </a:p>
        </p:txBody>
      </p:sp>
    </p:spTree>
    <p:extLst>
      <p:ext uri="{BB962C8B-B14F-4D97-AF65-F5344CB8AC3E}">
        <p14:creationId xmlns:p14="http://schemas.microsoft.com/office/powerpoint/2010/main" val="296434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FE3E-9658-A49A-23FD-BFD5ABA8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7E7A-21BA-0CD7-F47F-6685D8B35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73" y="930806"/>
            <a:ext cx="8761413" cy="706964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THERAPEUTIC STRATEGIES FOR MANAGING HEAVY METAL TOXICITY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D6AB0-FE56-259F-9CDB-24F139C9EB67}"/>
              </a:ext>
            </a:extLst>
          </p:cNvPr>
          <p:cNvSpPr txBox="1"/>
          <p:nvPr/>
        </p:nvSpPr>
        <p:spPr>
          <a:xfrm>
            <a:off x="168976" y="1887625"/>
            <a:ext cx="44629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Biomaterials: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are natural or synthetic materials designed to interact safely with living tissues for medical or environmental applications. They include nanoparticles, liposomes, hydrogels, biosorbents (through adsorption and ion exchange mechanism). 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Advantages: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Targeted detoxification, reduced toxicity(Abbas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2023)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Nanotechnology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This is the science and application of materials and devices at the nanoscale to improve products and solve problems in medicine, industry and the environment (Kim et al., 2022).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549CF-5C31-2CEF-21D2-AF92D0D0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627" y="163119"/>
            <a:ext cx="838199" cy="767687"/>
          </a:xfrm>
        </p:spPr>
        <p:txBody>
          <a:bodyPr/>
          <a:lstStyle/>
          <a:p>
            <a:fld id="{1FC57D87-A5A8-49F2-8217-3935E4A0971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0EFAD-B0F1-FAEB-9DCE-D5FE626B4B3E}"/>
              </a:ext>
            </a:extLst>
          </p:cNvPr>
          <p:cNvSpPr txBox="1"/>
          <p:nvPr/>
        </p:nvSpPr>
        <p:spPr>
          <a:xfrm>
            <a:off x="6603167" y="6073386"/>
            <a:ext cx="803956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Figure 10: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Schematic representation of the working steps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water cleaning using MNPs. (Hussien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., 2022)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FADAC6-5548-59CD-18D2-EC843318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" t="4497" r="1007" b="3727"/>
          <a:stretch>
            <a:fillRect/>
          </a:stretch>
        </p:blipFill>
        <p:spPr>
          <a:xfrm>
            <a:off x="4631962" y="2326746"/>
            <a:ext cx="7157802" cy="360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9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11CA-F0B2-96FD-E32C-67418C12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388" y="917900"/>
            <a:ext cx="8807580" cy="706964"/>
          </a:xfrm>
        </p:spPr>
        <p:txBody>
          <a:bodyPr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CHALLENGES AND FUTURE PERSPECTIVES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9DCB0-D53B-F0C0-73FC-174F947075C9}"/>
              </a:ext>
            </a:extLst>
          </p:cNvPr>
          <p:cNvSpPr txBox="1"/>
          <p:nvPr/>
        </p:nvSpPr>
        <p:spPr>
          <a:xfrm>
            <a:off x="323875" y="2015557"/>
            <a:ext cx="11708606" cy="18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Despite promising advances, biomaterial-based therapies for heavy metal detoxification face challenges including toxicity concerns, poor biocompatibility, high production costs and limited clinical trials. Regulatory and safety issues also restrict large-scale medical application.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Olawade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., 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B756D-98FB-94B8-30C8-3E0C07625713}"/>
              </a:ext>
            </a:extLst>
          </p:cNvPr>
          <p:cNvSpPr txBox="1"/>
          <p:nvPr/>
        </p:nvSpPr>
        <p:spPr>
          <a:xfrm>
            <a:off x="267170" y="4160824"/>
            <a:ext cx="11272838" cy="18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Future: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Future research is focused on developing smart nanoparticles, ROS-responsive biomaterials and precision medicine approaches for safer, targeted and more effective detoxification strategies. (Zang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., 2024; Wang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., 2024)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B707A-D2E1-7088-065E-51250029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z="2400" smtClean="0"/>
              <a:t>13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86346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7B8F-FDBA-C5EC-D565-EA8DE84B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434D9-641F-6172-B7DF-345239C1F233}"/>
              </a:ext>
            </a:extLst>
          </p:cNvPr>
          <p:cNvSpPr txBox="1"/>
          <p:nvPr/>
        </p:nvSpPr>
        <p:spPr>
          <a:xfrm>
            <a:off x="328613" y="2166702"/>
            <a:ext cx="11415712" cy="4536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Heavy metal toxicity remains a major environmental and public health concern due to its harmful effects on human cells and tissues. Biomaterial-based therapeutic strategies have emerged as promising approaches for targeted detoxification and improved treatment efficiency. Nevertheless, additional research and clinical validation are required to confirm their safety, effectiveness and long-term applicability in human health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EECAA-FBA3-6E74-FF67-8CE15ADA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38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83F4-0BFE-4D27-C038-F7225737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137" y="1063416"/>
            <a:ext cx="2910301" cy="706964"/>
          </a:xfrm>
        </p:spPr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950E1-4471-EA6B-BE2C-7D13CD94828D}"/>
              </a:ext>
            </a:extLst>
          </p:cNvPr>
          <p:cNvSpPr txBox="1"/>
          <p:nvPr/>
        </p:nvSpPr>
        <p:spPr>
          <a:xfrm>
            <a:off x="514351" y="2481212"/>
            <a:ext cx="114657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Abbas, M., Khan, M. A., &amp; Ahmed, S. (2023). Journal of Environmental Chemical Engineering, 11(4), 110234.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Jomova, K., Alomar, S. Y.,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Nepovimova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E., Kuca, K., &amp; Valko, M. (2025). Archives of Toxicology, 99, 153–209.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Kim, J. J., Kim, Y. S., &amp; Kumar, V. (2022). Journal of Trace Elements in Medicine and Biology, 68, 126845.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Sheraz, N., Shah, A., Haleem, A., &amp; Iftikhar, F. J. (2024). RSC Advances, 14, 11284–11310.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Singh, V., Ahmed, G., Vedika, S., et al. (2024). Scientific Reports, 14, 7595.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Wang, Y. L., Lee, Y. H., Chou, C. L., et al. (2024). Environmental Pollution, 346, 123617.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Zhang, Y., Jiang, M. J., &amp; Wang, T. W. (2024). Frontiers in Bioengineering and Biotechnology, 12, 1469393.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A1F553-D8B5-E748-CC6E-8C6E778F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74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E4A8A-A989-F2D2-FCBA-410365BEDAC8}"/>
              </a:ext>
            </a:extLst>
          </p:cNvPr>
          <p:cNvSpPr txBox="1"/>
          <p:nvPr/>
        </p:nvSpPr>
        <p:spPr>
          <a:xfrm>
            <a:off x="3136106" y="3429000"/>
            <a:ext cx="54363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B0422-80AC-E222-7CC6-4A3E9FA5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7D87-A5A8-49F2-8217-3935E4A097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10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OKWURU JENNIFER UKAH SEMINAR 26-05-2026</Template>
  <TotalTime>430</TotalTime>
  <Words>1342</Words>
  <Application>Microsoft Office PowerPoint</Application>
  <PresentationFormat>Widescreen</PresentationFormat>
  <Paragraphs>200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Wingdings</vt:lpstr>
      <vt:lpstr>Wingdings 3</vt:lpstr>
      <vt:lpstr>Ion Boardroom</vt:lpstr>
      <vt:lpstr>SEMINAR PRESENTATION  ON MOLECULAR MECHANISM OF HEAVY METAL TOXICITY IN HUMANS AND BIOMATERIAL-BASED THERAPEUTIC STRATEGIES</vt:lpstr>
      <vt:lpstr>OUTLINE</vt:lpstr>
      <vt:lpstr>INTRODUCTION</vt:lpstr>
      <vt:lpstr>WHY HEAVY METALS ARE DANGEROUS</vt:lpstr>
      <vt:lpstr>COMMON TOXIC HEAVY METALS</vt:lpstr>
      <vt:lpstr>PowerPoint Presentation</vt:lpstr>
      <vt:lpstr>MOLECULAR MECHANISMS OF TOXICITY</vt:lpstr>
      <vt:lpstr> MOLECULAR MECHANISM OF TOXICITY OXIDATIVE STRESS &amp; MITOCHONDRIAL DAMAGE </vt:lpstr>
      <vt:lpstr>MOLECULAR MECHANISM OF TOXICITY DNA DAMAGE &amp; INFLAMMATION</vt:lpstr>
      <vt:lpstr>ORGAN-SPECIFIC TOXICITY</vt:lpstr>
      <vt:lpstr>THERAPEUTIC STRATEGIES FOR MANAGING HEAVY METAL TOXICITY</vt:lpstr>
      <vt:lpstr>THERAPEUTIC STRATEGIES FOR MANAGING HEAVY METAL TOXICITY</vt:lpstr>
      <vt:lpstr>CHALLENGES AND FUTURE PERSPECTIVES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Surface</dc:creator>
  <cp:lastModifiedBy>Surface</cp:lastModifiedBy>
  <cp:revision>10</cp:revision>
  <dcterms:created xsi:type="dcterms:W3CDTF">2026-06-23T06:08:35Z</dcterms:created>
  <dcterms:modified xsi:type="dcterms:W3CDTF">2026-06-24T06:17:35Z</dcterms:modified>
</cp:coreProperties>
</file>